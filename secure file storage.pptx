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84" r:id="rId2"/>
    <p:sldId id="285" r:id="rId3"/>
    <p:sldId id="258" r:id="rId4"/>
    <p:sldId id="268" r:id="rId5"/>
    <p:sldId id="269" r:id="rId6"/>
    <p:sldId id="270" r:id="rId7"/>
    <p:sldId id="273" r:id="rId8"/>
    <p:sldId id="275" r:id="rId9"/>
    <p:sldId id="277" r:id="rId10"/>
    <p:sldId id="278" r:id="rId11"/>
    <p:sldId id="279" r:id="rId12"/>
    <p:sldId id="280" r:id="rId13"/>
    <p:sldId id="283" r:id="rId14"/>
    <p:sldId id="281" r:id="rId15"/>
    <p:sldId id="282" r:id="rId16"/>
    <p:sldId id="267" r:id="rId17"/>
  </p:sldIdLst>
  <p:sldSz cx="18288000" cy="10287000"/>
  <p:notesSz cx="6858000" cy="9144000"/>
  <p:embeddedFontLst>
    <p:embeddedFont>
      <p:font typeface="Arial Black" panose="020B0A04020102020204" pitchFamily="34" charset="0"/>
      <p:bold r:id="rId18"/>
    </p:embeddedFont>
    <p:embeddedFont>
      <p:font typeface="Intro" panose="02000000000000000000" charset="0"/>
      <p:regular r:id="rId19"/>
    </p:embeddedFont>
    <p:embeddedFont>
      <p:font typeface="TT Norms 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1" d="100"/>
          <a:sy n="41" d="100"/>
        </p:scale>
        <p:origin x="82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6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jpeg"/><Relationship Id="rId4" Type="http://schemas.openxmlformats.org/officeDocument/2006/relationships/image" Target="../media/image6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B0D9DC-F94F-DE09-7BE5-8887B0E3F6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311247" cy="10287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2B53B8A-E142-CF72-736E-D2C1B7A1C85C}"/>
              </a:ext>
            </a:extLst>
          </p:cNvPr>
          <p:cNvSpPr txBox="1"/>
          <p:nvPr/>
        </p:nvSpPr>
        <p:spPr>
          <a:xfrm>
            <a:off x="2515892" y="1467866"/>
            <a:ext cx="14781508" cy="1310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305"/>
              </a:lnSpc>
            </a:pPr>
            <a:r>
              <a:rPr lang="en-US" sz="3600" dirty="0">
                <a:solidFill>
                  <a:srgbClr val="0CC0DF"/>
                </a:solidFill>
                <a:latin typeface="Arial Black" panose="020B0A04020102020204" pitchFamily="34" charset="0"/>
                <a:ea typeface="Canva Sans"/>
                <a:cs typeface="Canva Sans"/>
                <a:sym typeface="Canva Sans"/>
              </a:rPr>
              <a:t>PES INSTITUTE OF TECHNOLOGY AND MANAGEMENT </a:t>
            </a:r>
          </a:p>
          <a:p>
            <a:pPr algn="ctr">
              <a:lnSpc>
                <a:spcPts val="4216"/>
              </a:lnSpc>
            </a:pPr>
            <a:r>
              <a:rPr lang="en-US" sz="3600" dirty="0">
                <a:solidFill>
                  <a:srgbClr val="E80C20"/>
                </a:solidFill>
                <a:latin typeface="Arial Black" panose="020B0A04020102020204" pitchFamily="34" charset="0"/>
                <a:ea typeface="Canva Sans"/>
                <a:cs typeface="Canva Sans"/>
                <a:sym typeface="Canva Sans"/>
              </a:rPr>
              <a:t>DEPARTMENT OF MASTER OF COMPUTER APPLICATIONS</a:t>
            </a:r>
          </a:p>
        </p:txBody>
      </p:sp>
      <p:sp>
        <p:nvSpPr>
          <p:cNvPr id="6" name="Freeform 13">
            <a:extLst>
              <a:ext uri="{FF2B5EF4-FFF2-40B4-BE49-F238E27FC236}">
                <a16:creationId xmlns:a16="http://schemas.microsoft.com/office/drawing/2014/main" id="{996E5292-142E-FF15-1BF6-0A56DB784B39}"/>
              </a:ext>
            </a:extLst>
          </p:cNvPr>
          <p:cNvSpPr/>
          <p:nvPr/>
        </p:nvSpPr>
        <p:spPr>
          <a:xfrm>
            <a:off x="1143000" y="1399273"/>
            <a:ext cx="1372892" cy="1447800"/>
          </a:xfrm>
          <a:custGeom>
            <a:avLst/>
            <a:gdLst/>
            <a:ahLst/>
            <a:cxnLst/>
            <a:rect l="l" t="t" r="r" b="b"/>
            <a:pathLst>
              <a:path w="1007361" h="1007361">
                <a:moveTo>
                  <a:pt x="0" y="0"/>
                </a:moveTo>
                <a:lnTo>
                  <a:pt x="1007362" y="0"/>
                </a:lnTo>
                <a:lnTo>
                  <a:pt x="1007362" y="1007361"/>
                </a:lnTo>
                <a:lnTo>
                  <a:pt x="0" y="10073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8891B8-2DAA-83BD-F32A-E9DB27AD2745}"/>
              </a:ext>
            </a:extLst>
          </p:cNvPr>
          <p:cNvSpPr txBox="1"/>
          <p:nvPr/>
        </p:nvSpPr>
        <p:spPr>
          <a:xfrm>
            <a:off x="7528301" y="3242240"/>
            <a:ext cx="3277891" cy="950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800" dirty="0">
                <a:solidFill>
                  <a:schemeClr val="bg1"/>
                </a:solidFill>
                <a:latin typeface="Arial Black" panose="020B0A04020102020204" pitchFamily="34" charset="0"/>
                <a:ea typeface="Inters"/>
                <a:cs typeface="Inters"/>
                <a:sym typeface="Inters"/>
              </a:rPr>
              <a:t>PRESENTATION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800" dirty="0">
                <a:solidFill>
                  <a:schemeClr val="bg1"/>
                </a:solidFill>
                <a:latin typeface="Arial Black" panose="020B0A04020102020204" pitchFamily="34" charset="0"/>
                <a:ea typeface="Inters"/>
                <a:cs typeface="Inters"/>
                <a:sym typeface="Inters"/>
              </a:rPr>
              <a:t> 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999EA3-7FED-6829-8638-76A223F48A1F}"/>
              </a:ext>
            </a:extLst>
          </p:cNvPr>
          <p:cNvSpPr txBox="1"/>
          <p:nvPr/>
        </p:nvSpPr>
        <p:spPr>
          <a:xfrm>
            <a:off x="4735134" y="4396949"/>
            <a:ext cx="8817732" cy="1493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dirty="0">
                <a:solidFill>
                  <a:srgbClr val="FF0000"/>
                </a:solidFill>
                <a:latin typeface="Arial Black" panose="020B0A04020102020204" pitchFamily="34" charset="0"/>
                <a:ea typeface="Canva Sans"/>
                <a:cs typeface="Canva Sans"/>
                <a:sym typeface="Canva Sans"/>
              </a:rPr>
              <a:t>SECURE FILE STORAGE USING HYBRID CRYPTOGRAPHY</a:t>
            </a:r>
            <a:endParaRPr lang="en-US" sz="3200" spc="-455" dirty="0">
              <a:solidFill>
                <a:srgbClr val="FF0000"/>
              </a:solidFill>
              <a:latin typeface="Arial Black" panose="020B0A04020102020204" pitchFamily="34" charset="0"/>
              <a:ea typeface="Intro"/>
              <a:cs typeface="Intro"/>
              <a:sym typeface="Intro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3113D1-EC62-340E-0683-56C4923DFA77}"/>
              </a:ext>
            </a:extLst>
          </p:cNvPr>
          <p:cNvSpPr txBox="1"/>
          <p:nvPr/>
        </p:nvSpPr>
        <p:spPr>
          <a:xfrm>
            <a:off x="1143000" y="6743700"/>
            <a:ext cx="4496448" cy="1597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020"/>
              </a:lnSpc>
              <a:spcBef>
                <a:spcPct val="0"/>
              </a:spcBef>
            </a:pPr>
            <a:r>
              <a:rPr lang="en-US" sz="2800" b="1" dirty="0">
                <a:solidFill>
                  <a:schemeClr val="bg1"/>
                </a:solidFill>
                <a:latin typeface="Arial Black" panose="020B0A04020102020204" pitchFamily="34" charset="0"/>
                <a:ea typeface="Lastica Bold"/>
                <a:cs typeface="Lastica Bold"/>
                <a:sym typeface="Lastica Bold"/>
              </a:rPr>
              <a:t>SUBMITTED BY</a:t>
            </a:r>
          </a:p>
          <a:p>
            <a:pPr algn="ctr">
              <a:lnSpc>
                <a:spcPts val="4020"/>
              </a:lnSpc>
              <a:spcBef>
                <a:spcPct val="0"/>
              </a:spcBef>
            </a:pPr>
            <a:r>
              <a:rPr lang="en-US" sz="2800" b="1" dirty="0">
                <a:solidFill>
                  <a:schemeClr val="bg1"/>
                </a:solidFill>
                <a:latin typeface="Arial Black" panose="020B0A04020102020204" pitchFamily="34" charset="0"/>
                <a:ea typeface="Lastica Bold"/>
                <a:cs typeface="Lastica Bold"/>
                <a:sym typeface="Lastica Bold"/>
              </a:rPr>
              <a:t>ULLAS G T</a:t>
            </a:r>
          </a:p>
          <a:p>
            <a:pPr algn="ctr">
              <a:lnSpc>
                <a:spcPts val="4020"/>
              </a:lnSpc>
              <a:spcBef>
                <a:spcPct val="0"/>
              </a:spcBef>
            </a:pPr>
            <a:r>
              <a:rPr lang="en-US" sz="2800" b="1" dirty="0">
                <a:solidFill>
                  <a:schemeClr val="bg1"/>
                </a:solidFill>
                <a:latin typeface="Arial Black" panose="020B0A04020102020204" pitchFamily="34" charset="0"/>
                <a:ea typeface="Lastica Bold"/>
                <a:cs typeface="Lastica Bold"/>
                <a:sym typeface="Lastica Bold"/>
              </a:rPr>
              <a:t>3</a:t>
            </a:r>
            <a:r>
              <a:rPr lang="en-US" sz="2800" b="1" baseline="30000" dirty="0">
                <a:solidFill>
                  <a:schemeClr val="bg1"/>
                </a:solidFill>
                <a:latin typeface="Arial Black" panose="020B0A04020102020204" pitchFamily="34" charset="0"/>
                <a:ea typeface="Lastica Bold"/>
                <a:cs typeface="Lastica Bold"/>
                <a:sym typeface="Lastica Bold"/>
              </a:rPr>
              <a:t>rd</a:t>
            </a:r>
            <a:r>
              <a:rPr lang="en-US" sz="2800" b="1" dirty="0">
                <a:solidFill>
                  <a:schemeClr val="bg1"/>
                </a:solidFill>
                <a:latin typeface="Arial Black" panose="020B0A04020102020204" pitchFamily="34" charset="0"/>
                <a:ea typeface="Lastica Bold"/>
                <a:cs typeface="Lastica Bold"/>
                <a:sym typeface="Lastica Bold"/>
              </a:rPr>
              <a:t> SEM MCA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E34AA4-59B0-BA40-B6FA-F10681F4BD9C}"/>
              </a:ext>
            </a:extLst>
          </p:cNvPr>
          <p:cNvSpPr txBox="1"/>
          <p:nvPr/>
        </p:nvSpPr>
        <p:spPr>
          <a:xfrm>
            <a:off x="11464547" y="6708556"/>
            <a:ext cx="5832853" cy="2110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020"/>
              </a:lnSpc>
              <a:spcBef>
                <a:spcPct val="0"/>
              </a:spcBef>
            </a:pPr>
            <a:r>
              <a:rPr lang="en-US" sz="2800" b="1" dirty="0">
                <a:solidFill>
                  <a:schemeClr val="bg1"/>
                </a:solidFill>
                <a:latin typeface="Arial Black" panose="020B0A04020102020204" pitchFamily="34" charset="0"/>
                <a:ea typeface="Lastica Bold"/>
                <a:cs typeface="Lastica Bold"/>
                <a:sym typeface="Lastica Bold"/>
              </a:rPr>
              <a:t>UNDER THE GUIDANCE OF</a:t>
            </a:r>
          </a:p>
          <a:p>
            <a:pPr algn="ctr">
              <a:lnSpc>
                <a:spcPts val="4020"/>
              </a:lnSpc>
              <a:spcBef>
                <a:spcPct val="0"/>
              </a:spcBef>
            </a:pPr>
            <a:r>
              <a:rPr lang="en-US" sz="2800" b="1" dirty="0">
                <a:solidFill>
                  <a:schemeClr val="bg1"/>
                </a:solidFill>
                <a:latin typeface="Arial Black" panose="020B0A04020102020204" pitchFamily="34" charset="0"/>
                <a:ea typeface="Lastica Bold"/>
                <a:cs typeface="Lastica Bold"/>
                <a:sym typeface="Lastica Bold"/>
              </a:rPr>
              <a:t>Ms. KAVYA H V</a:t>
            </a:r>
          </a:p>
          <a:p>
            <a:pPr algn="ctr">
              <a:lnSpc>
                <a:spcPts val="4020"/>
              </a:lnSpc>
              <a:spcBef>
                <a:spcPct val="0"/>
              </a:spcBef>
            </a:pPr>
            <a:r>
              <a:rPr lang="en-US" sz="2800" b="1" dirty="0">
                <a:solidFill>
                  <a:schemeClr val="bg1"/>
                </a:solidFill>
                <a:latin typeface="Arial Black" panose="020B0A04020102020204" pitchFamily="34" charset="0"/>
                <a:ea typeface="Lastica Bold"/>
                <a:cs typeface="Lastica Bold"/>
                <a:sym typeface="Lastica Bold"/>
              </a:rPr>
              <a:t>ASSISTANT PROFESSOR</a:t>
            </a:r>
          </a:p>
          <a:p>
            <a:pPr algn="ctr">
              <a:lnSpc>
                <a:spcPts val="4020"/>
              </a:lnSpc>
              <a:spcBef>
                <a:spcPct val="0"/>
              </a:spcBef>
            </a:pPr>
            <a:r>
              <a:rPr lang="en-US" sz="2800" b="1" dirty="0">
                <a:solidFill>
                  <a:schemeClr val="bg1"/>
                </a:solidFill>
                <a:latin typeface="Arial Black" panose="020B0A04020102020204" pitchFamily="34" charset="0"/>
                <a:ea typeface="Lastica Bold"/>
                <a:cs typeface="Lastica Bold"/>
                <a:sym typeface="Lastica Bold"/>
              </a:rPr>
              <a:t>PESITM</a:t>
            </a:r>
          </a:p>
        </p:txBody>
      </p:sp>
    </p:spTree>
    <p:extLst>
      <p:ext uri="{BB962C8B-B14F-4D97-AF65-F5344CB8AC3E}">
        <p14:creationId xmlns:p14="http://schemas.microsoft.com/office/powerpoint/2010/main" val="795478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B6645-7BB9-3F78-6F13-36AF73EBE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4D746123-8D4B-86C8-9BB2-DCC6CADD22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Freeform 3">
            <a:extLst>
              <a:ext uri="{FF2B5EF4-FFF2-40B4-BE49-F238E27FC236}">
                <a16:creationId xmlns:a16="http://schemas.microsoft.com/office/drawing/2014/main" id="{098A141D-F80D-9B17-6124-FF02E3854260}"/>
              </a:ext>
            </a:extLst>
          </p:cNvPr>
          <p:cNvSpPr/>
          <p:nvPr/>
        </p:nvSpPr>
        <p:spPr>
          <a:xfrm>
            <a:off x="0" y="14037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7729907" h="17729907">
                <a:moveTo>
                  <a:pt x="0" y="0"/>
                </a:moveTo>
                <a:lnTo>
                  <a:pt x="17729907" y="0"/>
                </a:lnTo>
                <a:lnTo>
                  <a:pt x="17729907" y="17729908"/>
                </a:lnTo>
                <a:lnTo>
                  <a:pt x="0" y="177299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algn="ctr">
              <a:lnSpc>
                <a:spcPts val="7967"/>
              </a:lnSpc>
            </a:pPr>
            <a:endParaRPr lang="en-US" sz="9600" spc="-357" dirty="0">
              <a:solidFill>
                <a:srgbClr val="FFFFFF"/>
              </a:solidFill>
              <a:latin typeface="Intro"/>
              <a:ea typeface="Intro"/>
              <a:cs typeface="Intro"/>
              <a:sym typeface="Intro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DBD8E45A-E2B3-4E0C-9D68-0513B9154568}"/>
              </a:ext>
            </a:extLst>
          </p:cNvPr>
          <p:cNvSpPr/>
          <p:nvPr/>
        </p:nvSpPr>
        <p:spPr>
          <a:xfrm>
            <a:off x="1028700" y="8936059"/>
            <a:ext cx="3375858" cy="644482"/>
          </a:xfrm>
          <a:custGeom>
            <a:avLst/>
            <a:gdLst/>
            <a:ahLst/>
            <a:cxnLst/>
            <a:rect l="l" t="t" r="r" b="b"/>
            <a:pathLst>
              <a:path w="3375858" h="644482">
                <a:moveTo>
                  <a:pt x="0" y="0"/>
                </a:moveTo>
                <a:lnTo>
                  <a:pt x="3375858" y="0"/>
                </a:lnTo>
                <a:lnTo>
                  <a:pt x="3375858" y="644482"/>
                </a:lnTo>
                <a:lnTo>
                  <a:pt x="0" y="6444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E9C088E4-B9E5-CB6E-D4CA-15704531BBEC}"/>
              </a:ext>
            </a:extLst>
          </p:cNvPr>
          <p:cNvSpPr/>
          <p:nvPr/>
        </p:nvSpPr>
        <p:spPr>
          <a:xfrm>
            <a:off x="13883442" y="706459"/>
            <a:ext cx="3375858" cy="644482"/>
          </a:xfrm>
          <a:custGeom>
            <a:avLst/>
            <a:gdLst/>
            <a:ahLst/>
            <a:cxnLst/>
            <a:rect l="l" t="t" r="r" b="b"/>
            <a:pathLst>
              <a:path w="3375858" h="644482">
                <a:moveTo>
                  <a:pt x="0" y="0"/>
                </a:moveTo>
                <a:lnTo>
                  <a:pt x="3375858" y="0"/>
                </a:lnTo>
                <a:lnTo>
                  <a:pt x="3375858" y="644482"/>
                </a:lnTo>
                <a:lnTo>
                  <a:pt x="0" y="6444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DF9E83-5BF4-6009-4072-50F9DA299698}"/>
              </a:ext>
            </a:extLst>
          </p:cNvPr>
          <p:cNvSpPr txBox="1"/>
          <p:nvPr/>
        </p:nvSpPr>
        <p:spPr>
          <a:xfrm>
            <a:off x="2247900" y="1591046"/>
            <a:ext cx="13792200" cy="7989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9600" spc="-455" dirty="0">
                <a:solidFill>
                  <a:schemeClr val="bg1"/>
                </a:solidFill>
                <a:latin typeface="Intro"/>
                <a:ea typeface="Intro"/>
                <a:cs typeface="Intro"/>
                <a:sym typeface="Intro"/>
              </a:rPr>
              <a:t>Secure file storage using hybrid cryptography</a:t>
            </a:r>
          </a:p>
          <a:p>
            <a:pPr algn="ctr">
              <a:lnSpc>
                <a:spcPts val="7967"/>
              </a:lnSpc>
            </a:pPr>
            <a:endParaRPr lang="en-US" sz="15000" spc="-357" dirty="0">
              <a:solidFill>
                <a:srgbClr val="FFFFFF"/>
              </a:solidFill>
              <a:latin typeface="Intro"/>
              <a:ea typeface="Intro"/>
              <a:cs typeface="Intro"/>
              <a:sym typeface="Intro"/>
            </a:endParaRPr>
          </a:p>
        </p:txBody>
      </p:sp>
    </p:spTree>
    <p:extLst>
      <p:ext uri="{BB962C8B-B14F-4D97-AF65-F5344CB8AC3E}">
        <p14:creationId xmlns:p14="http://schemas.microsoft.com/office/powerpoint/2010/main" val="2718102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894142" y="9077769"/>
            <a:ext cx="3375858" cy="644482"/>
          </a:xfrm>
          <a:custGeom>
            <a:avLst/>
            <a:gdLst/>
            <a:ahLst/>
            <a:cxnLst/>
            <a:rect l="l" t="t" r="r" b="b"/>
            <a:pathLst>
              <a:path w="3375858" h="644482">
                <a:moveTo>
                  <a:pt x="0" y="0"/>
                </a:moveTo>
                <a:lnTo>
                  <a:pt x="3375858" y="0"/>
                </a:lnTo>
                <a:lnTo>
                  <a:pt x="3375858" y="644482"/>
                </a:lnTo>
                <a:lnTo>
                  <a:pt x="0" y="6444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314071" y="570032"/>
            <a:ext cx="3375858" cy="644482"/>
          </a:xfrm>
          <a:custGeom>
            <a:avLst/>
            <a:gdLst/>
            <a:ahLst/>
            <a:cxnLst/>
            <a:rect l="l" t="t" r="r" b="b"/>
            <a:pathLst>
              <a:path w="3375858" h="644482">
                <a:moveTo>
                  <a:pt x="0" y="0"/>
                </a:moveTo>
                <a:lnTo>
                  <a:pt x="3375858" y="0"/>
                </a:lnTo>
                <a:lnTo>
                  <a:pt x="3375858" y="644482"/>
                </a:lnTo>
                <a:lnTo>
                  <a:pt x="0" y="6444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174285" y="1632654"/>
            <a:ext cx="5939428" cy="12306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6000" spc="-357" dirty="0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INTRODUCTION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11E588-C456-62E3-2C3E-630A1C0241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5976" y="3281452"/>
            <a:ext cx="13754102" cy="372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  <a:latin typeface="TT Norms Bold" panose="020B0604020202020204" charset="0"/>
              </a:rPr>
              <a:t>In the digital world, protecting files is very important.</a:t>
            </a:r>
          </a:p>
          <a:p>
            <a:pPr marL="45720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  <a:latin typeface="TT Norms Bold" panose="020B0604020202020204" charset="0"/>
              </a:rPr>
              <a:t>Hybrid cryptography helps achieve stronger security by combining the speed of </a:t>
            </a:r>
            <a:r>
              <a:rPr lang="en-US" sz="3200" b="1" dirty="0">
                <a:solidFill>
                  <a:schemeClr val="bg1"/>
                </a:solidFill>
                <a:latin typeface="TT Norms Bold" panose="020B0604020202020204" charset="0"/>
              </a:rPr>
              <a:t>AES</a:t>
            </a:r>
            <a:r>
              <a:rPr lang="en-US" sz="3200" dirty="0">
                <a:solidFill>
                  <a:schemeClr val="bg1"/>
                </a:solidFill>
                <a:latin typeface="TT Norms Bold" panose="020B0604020202020204" charset="0"/>
              </a:rPr>
              <a:t> and the secure key handling of </a:t>
            </a:r>
            <a:r>
              <a:rPr lang="en-US" sz="3200" b="1" dirty="0">
                <a:solidFill>
                  <a:schemeClr val="bg1"/>
                </a:solidFill>
                <a:latin typeface="TT Norms Bold" panose="020B0604020202020204" charset="0"/>
              </a:rPr>
              <a:t>RSA</a:t>
            </a:r>
            <a:r>
              <a:rPr lang="en-US" sz="3200" dirty="0">
                <a:solidFill>
                  <a:schemeClr val="bg1"/>
                </a:solidFill>
                <a:latin typeface="TT Norms Bold" panose="020B0604020202020204" charset="0"/>
              </a:rPr>
              <a:t>.</a:t>
            </a:r>
          </a:p>
          <a:p>
            <a:pPr marL="45720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  <a:latin typeface="TT Norms Bold" panose="020B0604020202020204" charset="0"/>
              </a:rPr>
              <a:t>In this project, users can upload, encrypt, store, and retrieve files safely through a simple interface.</a:t>
            </a:r>
            <a:endParaRPr kumimoji="0" lang="en-US" altLang="en-US" sz="32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T Norms Bold" panose="020B060402020202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565DB0-6221-981C-FAD4-A92BAA34F7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4300" y="0"/>
            <a:ext cx="18516600" cy="10287000"/>
          </a:xfrm>
          <a:prstGeom prst="rect">
            <a:avLst/>
          </a:prstGeom>
        </p:spPr>
      </p:pic>
      <p:sp>
        <p:nvSpPr>
          <p:cNvPr id="4" name="Freeform 4">
            <a:extLst>
              <a:ext uri="{FF2B5EF4-FFF2-40B4-BE49-F238E27FC236}">
                <a16:creationId xmlns:a16="http://schemas.microsoft.com/office/drawing/2014/main" id="{627CA4F9-BD07-AAE5-DB26-AECF8055DB20}"/>
              </a:ext>
            </a:extLst>
          </p:cNvPr>
          <p:cNvSpPr/>
          <p:nvPr/>
        </p:nvSpPr>
        <p:spPr>
          <a:xfrm>
            <a:off x="14193313" y="546072"/>
            <a:ext cx="3375858" cy="644482"/>
          </a:xfrm>
          <a:custGeom>
            <a:avLst/>
            <a:gdLst/>
            <a:ahLst/>
            <a:cxnLst/>
            <a:rect l="l" t="t" r="r" b="b"/>
            <a:pathLst>
              <a:path w="3375858" h="644482">
                <a:moveTo>
                  <a:pt x="0" y="0"/>
                </a:moveTo>
                <a:lnTo>
                  <a:pt x="3375858" y="0"/>
                </a:lnTo>
                <a:lnTo>
                  <a:pt x="3375858" y="644482"/>
                </a:lnTo>
                <a:lnTo>
                  <a:pt x="0" y="6444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8E96BEEE-B0F3-E2D3-BCCD-460F7A208D6F}"/>
              </a:ext>
            </a:extLst>
          </p:cNvPr>
          <p:cNvSpPr/>
          <p:nvPr/>
        </p:nvSpPr>
        <p:spPr>
          <a:xfrm>
            <a:off x="705913" y="9105900"/>
            <a:ext cx="3375858" cy="644482"/>
          </a:xfrm>
          <a:custGeom>
            <a:avLst/>
            <a:gdLst/>
            <a:ahLst/>
            <a:cxnLst/>
            <a:rect l="l" t="t" r="r" b="b"/>
            <a:pathLst>
              <a:path w="3375858" h="644482">
                <a:moveTo>
                  <a:pt x="0" y="0"/>
                </a:moveTo>
                <a:lnTo>
                  <a:pt x="3375858" y="0"/>
                </a:lnTo>
                <a:lnTo>
                  <a:pt x="3375858" y="644482"/>
                </a:lnTo>
                <a:lnTo>
                  <a:pt x="0" y="6444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D7C69D-2C61-43A6-FAB3-805024C4485E}"/>
              </a:ext>
            </a:extLst>
          </p:cNvPr>
          <p:cNvSpPr txBox="1"/>
          <p:nvPr/>
        </p:nvSpPr>
        <p:spPr>
          <a:xfrm>
            <a:off x="5046634" y="1617711"/>
            <a:ext cx="8194730" cy="1322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6000" spc="-357" dirty="0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Problem statement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CE03B5-C59A-3C60-7609-91DA3776B2CC}"/>
              </a:ext>
            </a:extLst>
          </p:cNvPr>
          <p:cNvSpPr txBox="1"/>
          <p:nvPr/>
        </p:nvSpPr>
        <p:spPr>
          <a:xfrm>
            <a:off x="2057400" y="3138065"/>
            <a:ext cx="14975237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  <a:latin typeface="TT Norms Bold" panose="020B0604020202020204" charset="0"/>
              </a:rPr>
              <a:t>Today cyberattacks are increasing, and sensitive files stored on local systems or cloud platforms are at high risk.</a:t>
            </a:r>
          </a:p>
          <a:p>
            <a:pPr marL="45720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  <a:latin typeface="TT Norms Bold" panose="020B0604020202020204" charset="0"/>
              </a:rPr>
              <a:t>Using only symmetric encryption creates key-sharing problems, and using only asymmetric encryption is slow for large files.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  <a:latin typeface="TT Norms Bold" panose="020B0604020202020204" charset="0"/>
              </a:rPr>
              <a:t>So, maintaining both security and performance is a major challenge. This project solves that challenge .</a:t>
            </a:r>
            <a:br>
              <a:rPr lang="en-US" sz="3200" dirty="0">
                <a:solidFill>
                  <a:schemeClr val="bg1"/>
                </a:solidFill>
              </a:rPr>
            </a:br>
            <a:endParaRPr lang="en-US" altLang="en-US" sz="3200" dirty="0">
              <a:solidFill>
                <a:schemeClr val="bg1"/>
              </a:solidFill>
              <a:latin typeface="TT Norms Bol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2208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C7D79D6-6E0E-8CBB-51D5-81821BBB671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016"/>
            <a:ext cx="18288000" cy="10293016"/>
          </a:xfrm>
          <a:prstGeom prst="rect">
            <a:avLst/>
          </a:prstGeom>
        </p:spPr>
      </p:pic>
      <p:sp>
        <p:nvSpPr>
          <p:cNvPr id="3" name="Freeform 4">
            <a:extLst>
              <a:ext uri="{FF2B5EF4-FFF2-40B4-BE49-F238E27FC236}">
                <a16:creationId xmlns:a16="http://schemas.microsoft.com/office/drawing/2014/main" id="{41CB367A-DEC7-B7FC-C517-8CBE3B480ABF}"/>
              </a:ext>
            </a:extLst>
          </p:cNvPr>
          <p:cNvSpPr/>
          <p:nvPr/>
        </p:nvSpPr>
        <p:spPr>
          <a:xfrm>
            <a:off x="990600" y="9040265"/>
            <a:ext cx="3375858" cy="644482"/>
          </a:xfrm>
          <a:custGeom>
            <a:avLst/>
            <a:gdLst/>
            <a:ahLst/>
            <a:cxnLst/>
            <a:rect l="l" t="t" r="r" b="b"/>
            <a:pathLst>
              <a:path w="3375858" h="644482">
                <a:moveTo>
                  <a:pt x="0" y="0"/>
                </a:moveTo>
                <a:lnTo>
                  <a:pt x="3375858" y="0"/>
                </a:lnTo>
                <a:lnTo>
                  <a:pt x="3375858" y="644482"/>
                </a:lnTo>
                <a:lnTo>
                  <a:pt x="0" y="6444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31C14C8-9438-E443-1CE7-13F5A02AF4BE}"/>
              </a:ext>
            </a:extLst>
          </p:cNvPr>
          <p:cNvSpPr/>
          <p:nvPr/>
        </p:nvSpPr>
        <p:spPr>
          <a:xfrm>
            <a:off x="14249400" y="672488"/>
            <a:ext cx="3375858" cy="644482"/>
          </a:xfrm>
          <a:custGeom>
            <a:avLst/>
            <a:gdLst/>
            <a:ahLst/>
            <a:cxnLst/>
            <a:rect l="l" t="t" r="r" b="b"/>
            <a:pathLst>
              <a:path w="3375858" h="644482">
                <a:moveTo>
                  <a:pt x="0" y="0"/>
                </a:moveTo>
                <a:lnTo>
                  <a:pt x="3375858" y="0"/>
                </a:lnTo>
                <a:lnTo>
                  <a:pt x="3375858" y="644482"/>
                </a:lnTo>
                <a:lnTo>
                  <a:pt x="0" y="6444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2462D0-E97C-61C4-C335-826EA1B9FFBC}"/>
              </a:ext>
            </a:extLst>
          </p:cNvPr>
          <p:cNvSpPr txBox="1"/>
          <p:nvPr/>
        </p:nvSpPr>
        <p:spPr>
          <a:xfrm>
            <a:off x="6553200" y="1465298"/>
            <a:ext cx="5181600" cy="1322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6000" spc="-357" dirty="0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Objectives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034735-9B5B-8487-8298-67E95AFCC3F6}"/>
              </a:ext>
            </a:extLst>
          </p:cNvPr>
          <p:cNvSpPr txBox="1"/>
          <p:nvPr/>
        </p:nvSpPr>
        <p:spPr>
          <a:xfrm>
            <a:off x="966537" y="2834900"/>
            <a:ext cx="1447800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endParaRPr lang="en-US" sz="3200" dirty="0">
              <a:solidFill>
                <a:schemeClr val="bg1"/>
              </a:solidFill>
              <a:latin typeface="TT Norms Bold" panose="020B0604020202020204" charset="0"/>
            </a:endParaRPr>
          </a:p>
          <a:p>
            <a:pPr marL="514350" indent="-5143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3200" dirty="0">
              <a:solidFill>
                <a:schemeClr val="bg1"/>
              </a:solidFill>
              <a:latin typeface="TT Norms Bold" panose="020B060402020202020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EF5B121-CC3D-670B-6021-207197191E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4284" y="3074059"/>
            <a:ext cx="14927179" cy="4462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  <a:latin typeface="TT Norms Bold" panose="020B0604020202020204" charset="0"/>
              </a:rPr>
              <a:t>To build a secure file storage system.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  <a:latin typeface="TT Norms Bold" panose="020B0604020202020204" charset="0"/>
              </a:rPr>
              <a:t>To combine symmetric AES and asymmetric RSA encryption for strong protection.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  <a:latin typeface="TT Norms Bold" panose="020B0604020202020204" charset="0"/>
              </a:rPr>
              <a:t>To ensure confidentiality, integrity, and authorized access.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  <a:latin typeface="TT Norms Bold" panose="020B0604020202020204" charset="0"/>
              </a:rPr>
              <a:t>To provide a simple interface for users to upload and download files safely.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  <a:latin typeface="TT Norms Bold" panose="020B0604020202020204" charset="0"/>
              </a:rPr>
              <a:t>To improve both security and performance.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T Norms Bol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968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0CE5123-C53E-CEC2-98E7-3F124D2900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Freeform 4">
            <a:extLst>
              <a:ext uri="{FF2B5EF4-FFF2-40B4-BE49-F238E27FC236}">
                <a16:creationId xmlns:a16="http://schemas.microsoft.com/office/drawing/2014/main" id="{51B20D76-0F3F-31E5-4E0F-39205E29258D}"/>
              </a:ext>
            </a:extLst>
          </p:cNvPr>
          <p:cNvSpPr/>
          <p:nvPr/>
        </p:nvSpPr>
        <p:spPr>
          <a:xfrm>
            <a:off x="762000" y="9289797"/>
            <a:ext cx="3375858" cy="644482"/>
          </a:xfrm>
          <a:custGeom>
            <a:avLst/>
            <a:gdLst/>
            <a:ahLst/>
            <a:cxnLst/>
            <a:rect l="l" t="t" r="r" b="b"/>
            <a:pathLst>
              <a:path w="3375858" h="644482">
                <a:moveTo>
                  <a:pt x="0" y="0"/>
                </a:moveTo>
                <a:lnTo>
                  <a:pt x="3375858" y="0"/>
                </a:lnTo>
                <a:lnTo>
                  <a:pt x="3375858" y="644482"/>
                </a:lnTo>
                <a:lnTo>
                  <a:pt x="0" y="6444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E0FE8AB7-002C-9612-6552-6FD69402C4AE}"/>
              </a:ext>
            </a:extLst>
          </p:cNvPr>
          <p:cNvSpPr/>
          <p:nvPr/>
        </p:nvSpPr>
        <p:spPr>
          <a:xfrm>
            <a:off x="14249400" y="647700"/>
            <a:ext cx="3375858" cy="644482"/>
          </a:xfrm>
          <a:custGeom>
            <a:avLst/>
            <a:gdLst/>
            <a:ahLst/>
            <a:cxnLst/>
            <a:rect l="l" t="t" r="r" b="b"/>
            <a:pathLst>
              <a:path w="3375858" h="644482">
                <a:moveTo>
                  <a:pt x="0" y="0"/>
                </a:moveTo>
                <a:lnTo>
                  <a:pt x="3375858" y="0"/>
                </a:lnTo>
                <a:lnTo>
                  <a:pt x="3375858" y="644482"/>
                </a:lnTo>
                <a:lnTo>
                  <a:pt x="0" y="6444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EDB26E-93AA-51E3-E2CC-9C318F470F69}"/>
              </a:ext>
            </a:extLst>
          </p:cNvPr>
          <p:cNvSpPr txBox="1"/>
          <p:nvPr/>
        </p:nvSpPr>
        <p:spPr>
          <a:xfrm>
            <a:off x="1447800" y="1144673"/>
            <a:ext cx="6477000" cy="1076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800" spc="-357" dirty="0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Scope and purpose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CC5AB3-892B-7FE0-D810-5BF1A4A72AD6}"/>
              </a:ext>
            </a:extLst>
          </p:cNvPr>
          <p:cNvSpPr txBox="1"/>
          <p:nvPr/>
        </p:nvSpPr>
        <p:spPr>
          <a:xfrm>
            <a:off x="1447800" y="2342719"/>
            <a:ext cx="1676400" cy="830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spc="-357" dirty="0">
                <a:solidFill>
                  <a:srgbClr val="FF0000"/>
                </a:solidFill>
                <a:latin typeface="Intro"/>
                <a:ea typeface="Intro"/>
                <a:cs typeface="Intro"/>
                <a:sym typeface="Intro"/>
              </a:rPr>
              <a:t>scope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BA3FD1-7AEC-7232-5877-776ED3FBCA0C}"/>
              </a:ext>
            </a:extLst>
          </p:cNvPr>
          <p:cNvSpPr txBox="1"/>
          <p:nvPr/>
        </p:nvSpPr>
        <p:spPr>
          <a:xfrm>
            <a:off x="1447801" y="3244957"/>
            <a:ext cx="14706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  <a:latin typeface="TT Norms Bold" panose="020B0604020202020204" charset="0"/>
              </a:rPr>
              <a:t>The system mainly focuses on encryption, decryption, uploading, and retrieving files.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  <a:latin typeface="TT Norms Bold" panose="020B0604020202020204" charset="0"/>
              </a:rPr>
              <a:t>It uses AES for data encryption and RSA for secure key protection.</a:t>
            </a:r>
            <a:endParaRPr lang="en-IN" sz="3200" dirty="0">
              <a:solidFill>
                <a:schemeClr val="bg1"/>
              </a:solidFill>
              <a:latin typeface="TT Norms Bold" panose="020B060402020202020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730539-ED0E-7D1F-0D7A-65F8FD2C2D35}"/>
              </a:ext>
            </a:extLst>
          </p:cNvPr>
          <p:cNvSpPr txBox="1"/>
          <p:nvPr/>
        </p:nvSpPr>
        <p:spPr>
          <a:xfrm>
            <a:off x="1447800" y="5573250"/>
            <a:ext cx="2232858" cy="830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spc="-357" dirty="0">
                <a:solidFill>
                  <a:srgbClr val="FF0000"/>
                </a:solidFill>
                <a:latin typeface="Intro"/>
                <a:ea typeface="Intro"/>
                <a:cs typeface="Intro"/>
                <a:sym typeface="Intro"/>
              </a:rPr>
              <a:t>Purpose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459F0F-31F1-9FA9-466F-3A764067314B}"/>
              </a:ext>
            </a:extLst>
          </p:cNvPr>
          <p:cNvSpPr txBox="1"/>
          <p:nvPr/>
        </p:nvSpPr>
        <p:spPr>
          <a:xfrm>
            <a:off x="1447800" y="6418416"/>
            <a:ext cx="153924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  <a:latin typeface="TT Norms Bold" panose="020B0604020202020204" charset="0"/>
              </a:rPr>
              <a:t>The purpose is to show how hybrid cryptography enhances data safety and makes file handling secure and fast.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  <a:latin typeface="TT Norms Bold" panose="020B0604020202020204" charset="0"/>
              </a:rPr>
              <a:t>It aims to prevent data theft and unauthorized access.</a:t>
            </a:r>
            <a:endParaRPr lang="en-IN" sz="3200" dirty="0">
              <a:solidFill>
                <a:schemeClr val="bg1"/>
              </a:solidFill>
              <a:latin typeface="TT Norms Bol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2775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7A099E1-442C-3DCC-9CF0-ED9006AA9F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Freeform 4">
            <a:extLst>
              <a:ext uri="{FF2B5EF4-FFF2-40B4-BE49-F238E27FC236}">
                <a16:creationId xmlns:a16="http://schemas.microsoft.com/office/drawing/2014/main" id="{DFB3BAE2-CB7C-C433-CC3B-97E922CF31D9}"/>
              </a:ext>
            </a:extLst>
          </p:cNvPr>
          <p:cNvSpPr/>
          <p:nvPr/>
        </p:nvSpPr>
        <p:spPr>
          <a:xfrm>
            <a:off x="14401800" y="463605"/>
            <a:ext cx="3375858" cy="644482"/>
          </a:xfrm>
          <a:custGeom>
            <a:avLst/>
            <a:gdLst/>
            <a:ahLst/>
            <a:cxnLst/>
            <a:rect l="l" t="t" r="r" b="b"/>
            <a:pathLst>
              <a:path w="3375858" h="644482">
                <a:moveTo>
                  <a:pt x="0" y="0"/>
                </a:moveTo>
                <a:lnTo>
                  <a:pt x="3375858" y="0"/>
                </a:lnTo>
                <a:lnTo>
                  <a:pt x="3375858" y="644482"/>
                </a:lnTo>
                <a:lnTo>
                  <a:pt x="0" y="6444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E1C7D22D-32B1-61D0-AF5D-4582B84F51F6}"/>
              </a:ext>
            </a:extLst>
          </p:cNvPr>
          <p:cNvSpPr/>
          <p:nvPr/>
        </p:nvSpPr>
        <p:spPr>
          <a:xfrm>
            <a:off x="685800" y="9182100"/>
            <a:ext cx="3375858" cy="644482"/>
          </a:xfrm>
          <a:custGeom>
            <a:avLst/>
            <a:gdLst/>
            <a:ahLst/>
            <a:cxnLst/>
            <a:rect l="l" t="t" r="r" b="b"/>
            <a:pathLst>
              <a:path w="3375858" h="644482">
                <a:moveTo>
                  <a:pt x="0" y="0"/>
                </a:moveTo>
                <a:lnTo>
                  <a:pt x="3375858" y="0"/>
                </a:lnTo>
                <a:lnTo>
                  <a:pt x="3375858" y="644482"/>
                </a:lnTo>
                <a:lnTo>
                  <a:pt x="0" y="6444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FEB267-CD20-A434-4419-7C2F9B18B22F}"/>
              </a:ext>
            </a:extLst>
          </p:cNvPr>
          <p:cNvSpPr txBox="1"/>
          <p:nvPr/>
        </p:nvSpPr>
        <p:spPr>
          <a:xfrm>
            <a:off x="2057400" y="1222624"/>
            <a:ext cx="8305800" cy="830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spc="-357" dirty="0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Existing system and disadvantages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7626BB7B-0FA9-2AF2-53BC-300BE7F2A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7347" y="2114454"/>
            <a:ext cx="13216266" cy="2623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1"/>
                </a:solidFill>
                <a:latin typeface="TT Norms Bold" panose="020B0604020202020204" charset="0"/>
              </a:rPr>
              <a:t>In the existing systems, only a single encryption method is used.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1"/>
                </a:solidFill>
                <a:latin typeface="TT Norms Bold" panose="020B0604020202020204" charset="0"/>
              </a:rPr>
              <a:t>Symmetric encryption is fast but unsafe for key sharing.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1"/>
                </a:solidFill>
                <a:latin typeface="TT Norms Bold" panose="020B0604020202020204" charset="0"/>
              </a:rPr>
              <a:t>Asymmetric encryption is secure but slow for large files.</a:t>
            </a:r>
            <a:br>
              <a:rPr lang="en-US" sz="2800" dirty="0">
                <a:solidFill>
                  <a:schemeClr val="bg1"/>
                </a:solidFill>
                <a:latin typeface="TT Norms Bold" panose="020B0604020202020204" charset="0"/>
              </a:rPr>
            </a:br>
            <a:r>
              <a:rPr lang="en-US" sz="2800" dirty="0">
                <a:solidFill>
                  <a:schemeClr val="bg1"/>
                </a:solidFill>
                <a:latin typeface="TT Norms Bold" panose="020B0604020202020204" charset="0"/>
              </a:rPr>
              <a:t>This creates limitations in security and performance.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T Norms Bold" panose="020B060402020202020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2818E6-8D86-4016-7FEF-AB68C7520EEC}"/>
              </a:ext>
            </a:extLst>
          </p:cNvPr>
          <p:cNvSpPr txBox="1"/>
          <p:nvPr/>
        </p:nvSpPr>
        <p:spPr>
          <a:xfrm>
            <a:off x="2037347" y="4939682"/>
            <a:ext cx="3992525" cy="830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spc="-357" dirty="0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disadvantages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15B98E-A558-53C3-3F20-F15D85F6806B}"/>
              </a:ext>
            </a:extLst>
          </p:cNvPr>
          <p:cNvSpPr txBox="1"/>
          <p:nvPr/>
        </p:nvSpPr>
        <p:spPr>
          <a:xfrm>
            <a:off x="2037347" y="5969850"/>
            <a:ext cx="9304420" cy="1977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T Norms Bold" panose="020B0604020202020204" charset="0"/>
              </a:rPr>
              <a:t>Single encryption is easier to break.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T Norms Bold" panose="020B0604020202020204" charset="0"/>
              </a:rPr>
              <a:t>Key management becomes risky.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T Norms Bold" panose="020B0604020202020204" charset="0"/>
              </a:rPr>
              <a:t>Slow performance with large files.</a:t>
            </a:r>
          </a:p>
        </p:txBody>
      </p:sp>
    </p:spTree>
    <p:extLst>
      <p:ext uri="{BB962C8B-B14F-4D97-AF65-F5344CB8AC3E}">
        <p14:creationId xmlns:p14="http://schemas.microsoft.com/office/powerpoint/2010/main" val="1954821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AD215A0-3D94-119D-33B1-4A1615082CD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325100"/>
          </a:xfrm>
          <a:prstGeom prst="rect">
            <a:avLst/>
          </a:prstGeom>
        </p:spPr>
      </p:pic>
      <p:sp>
        <p:nvSpPr>
          <p:cNvPr id="3" name="Freeform 4">
            <a:extLst>
              <a:ext uri="{FF2B5EF4-FFF2-40B4-BE49-F238E27FC236}">
                <a16:creationId xmlns:a16="http://schemas.microsoft.com/office/drawing/2014/main" id="{DB587EF6-89B1-9FD8-F3A6-2F3DD03C4869}"/>
              </a:ext>
            </a:extLst>
          </p:cNvPr>
          <p:cNvSpPr/>
          <p:nvPr/>
        </p:nvSpPr>
        <p:spPr>
          <a:xfrm>
            <a:off x="14401800" y="419100"/>
            <a:ext cx="3375858" cy="644482"/>
          </a:xfrm>
          <a:custGeom>
            <a:avLst/>
            <a:gdLst/>
            <a:ahLst/>
            <a:cxnLst/>
            <a:rect l="l" t="t" r="r" b="b"/>
            <a:pathLst>
              <a:path w="3375858" h="644482">
                <a:moveTo>
                  <a:pt x="0" y="0"/>
                </a:moveTo>
                <a:lnTo>
                  <a:pt x="3375858" y="0"/>
                </a:lnTo>
                <a:lnTo>
                  <a:pt x="3375858" y="644482"/>
                </a:lnTo>
                <a:lnTo>
                  <a:pt x="0" y="6444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73DAB630-5DAD-3353-A5A9-8281017FCADB}"/>
              </a:ext>
            </a:extLst>
          </p:cNvPr>
          <p:cNvSpPr/>
          <p:nvPr/>
        </p:nvSpPr>
        <p:spPr>
          <a:xfrm>
            <a:off x="914400" y="9125512"/>
            <a:ext cx="3375858" cy="644482"/>
          </a:xfrm>
          <a:custGeom>
            <a:avLst/>
            <a:gdLst/>
            <a:ahLst/>
            <a:cxnLst/>
            <a:rect l="l" t="t" r="r" b="b"/>
            <a:pathLst>
              <a:path w="3375858" h="644482">
                <a:moveTo>
                  <a:pt x="0" y="0"/>
                </a:moveTo>
                <a:lnTo>
                  <a:pt x="3375858" y="0"/>
                </a:lnTo>
                <a:lnTo>
                  <a:pt x="3375858" y="644482"/>
                </a:lnTo>
                <a:lnTo>
                  <a:pt x="0" y="6444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BD03D3-AD5E-36AE-A322-B66DF35EF735}"/>
              </a:ext>
            </a:extLst>
          </p:cNvPr>
          <p:cNvSpPr txBox="1"/>
          <p:nvPr/>
        </p:nvSpPr>
        <p:spPr>
          <a:xfrm>
            <a:off x="2057400" y="1062910"/>
            <a:ext cx="8026138" cy="830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spc="-357" dirty="0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Proposed system  and advantages 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47F526A1-9A1C-B035-45DF-670A71B1E1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1933755"/>
            <a:ext cx="15036538" cy="3270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lvl="0" indent="-5715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1"/>
                </a:solidFill>
                <a:latin typeface="TT Norms Bold" panose="020B0604020202020204" charset="0"/>
              </a:rPr>
              <a:t>Our proposed system uses hybrid cryptography.</a:t>
            </a:r>
          </a:p>
          <a:p>
            <a:pPr marL="571500" lvl="0" indent="-5715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1"/>
                </a:solidFill>
                <a:latin typeface="TT Norms Bold" panose="020B0604020202020204" charset="0"/>
              </a:rPr>
              <a:t>AES encrypts the file quickly, and RSA encrypts the AES key securely.</a:t>
            </a:r>
          </a:p>
          <a:p>
            <a:pPr marL="571500" lvl="0" indent="-5715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1"/>
                </a:solidFill>
                <a:latin typeface="TT Norms Bold" panose="020B0604020202020204" charset="0"/>
              </a:rPr>
              <a:t>This ensures confidentiality and integrity.</a:t>
            </a:r>
          </a:p>
          <a:p>
            <a:pPr marL="571500" lvl="0" indent="-5715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1"/>
                </a:solidFill>
                <a:latin typeface="TT Norms Bold" panose="020B0604020202020204" charset="0"/>
              </a:rPr>
              <a:t>The system also provides a simple interface for users to upload and download encrypted files.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T Norms Bold" panose="020B060402020202020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F0448A-E0BF-D2B1-F834-72CCF8DAB836}"/>
              </a:ext>
            </a:extLst>
          </p:cNvPr>
          <p:cNvSpPr txBox="1"/>
          <p:nvPr/>
        </p:nvSpPr>
        <p:spPr>
          <a:xfrm>
            <a:off x="2057400" y="5481897"/>
            <a:ext cx="2971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spc="-357" dirty="0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advantages</a:t>
            </a:r>
            <a:endParaRPr lang="en-IN" sz="3600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5C44F958-E9E8-235E-4D21-CFC40CB61E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6166328"/>
            <a:ext cx="5718232" cy="2623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T Norms Bold" panose="020B0604020202020204" charset="0"/>
              </a:rPr>
              <a:t>Fast encryption &amp; decryption.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T Norms Bold" panose="020B0604020202020204" charset="0"/>
              </a:rPr>
              <a:t>Prevents unauthorized access.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T Norms Bold" panose="020B0604020202020204" charset="0"/>
              </a:rPr>
              <a:t>Strong data protection.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T Norms Bold" panose="020B0604020202020204" charset="0"/>
              </a:rPr>
              <a:t>User-friendly interface.</a:t>
            </a:r>
          </a:p>
        </p:txBody>
      </p:sp>
    </p:spTree>
    <p:extLst>
      <p:ext uri="{BB962C8B-B14F-4D97-AF65-F5344CB8AC3E}">
        <p14:creationId xmlns:p14="http://schemas.microsoft.com/office/powerpoint/2010/main" val="611786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A8CC1CB-A793-1424-FF9F-607A54692C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90500"/>
            <a:ext cx="18288000" cy="10477500"/>
          </a:xfrm>
          <a:prstGeom prst="rect">
            <a:avLst/>
          </a:prstGeom>
        </p:spPr>
      </p:pic>
      <p:sp>
        <p:nvSpPr>
          <p:cNvPr id="3" name="Freeform 4">
            <a:extLst>
              <a:ext uri="{FF2B5EF4-FFF2-40B4-BE49-F238E27FC236}">
                <a16:creationId xmlns:a16="http://schemas.microsoft.com/office/drawing/2014/main" id="{93D1DF63-C5C4-1FAA-C6B5-3A8C8AF97CF4}"/>
              </a:ext>
            </a:extLst>
          </p:cNvPr>
          <p:cNvSpPr/>
          <p:nvPr/>
        </p:nvSpPr>
        <p:spPr>
          <a:xfrm>
            <a:off x="14466471" y="524417"/>
            <a:ext cx="3375858" cy="644482"/>
          </a:xfrm>
          <a:custGeom>
            <a:avLst/>
            <a:gdLst/>
            <a:ahLst/>
            <a:cxnLst/>
            <a:rect l="l" t="t" r="r" b="b"/>
            <a:pathLst>
              <a:path w="3375858" h="644482">
                <a:moveTo>
                  <a:pt x="0" y="0"/>
                </a:moveTo>
                <a:lnTo>
                  <a:pt x="3375858" y="0"/>
                </a:lnTo>
                <a:lnTo>
                  <a:pt x="3375858" y="644482"/>
                </a:lnTo>
                <a:lnTo>
                  <a:pt x="0" y="6444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EA6001B9-C2C5-EBBD-98CE-706B7A074046}"/>
              </a:ext>
            </a:extLst>
          </p:cNvPr>
          <p:cNvSpPr/>
          <p:nvPr/>
        </p:nvSpPr>
        <p:spPr>
          <a:xfrm>
            <a:off x="838200" y="9149113"/>
            <a:ext cx="3375858" cy="644482"/>
          </a:xfrm>
          <a:custGeom>
            <a:avLst/>
            <a:gdLst/>
            <a:ahLst/>
            <a:cxnLst/>
            <a:rect l="l" t="t" r="r" b="b"/>
            <a:pathLst>
              <a:path w="3375858" h="644482">
                <a:moveTo>
                  <a:pt x="0" y="0"/>
                </a:moveTo>
                <a:lnTo>
                  <a:pt x="3375858" y="0"/>
                </a:lnTo>
                <a:lnTo>
                  <a:pt x="3375858" y="644482"/>
                </a:lnTo>
                <a:lnTo>
                  <a:pt x="0" y="6444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B23705-D79C-8F23-C624-9389579F78EB}"/>
              </a:ext>
            </a:extLst>
          </p:cNvPr>
          <p:cNvSpPr txBox="1"/>
          <p:nvPr/>
        </p:nvSpPr>
        <p:spPr>
          <a:xfrm>
            <a:off x="1600200" y="1137887"/>
            <a:ext cx="12420600" cy="1076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800" spc="-357" dirty="0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Hardware and software requirements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F9D8E9-63E0-E3D3-DC94-266D0BC35E7E}"/>
              </a:ext>
            </a:extLst>
          </p:cNvPr>
          <p:cNvSpPr txBox="1"/>
          <p:nvPr/>
        </p:nvSpPr>
        <p:spPr>
          <a:xfrm>
            <a:off x="1600200" y="2172124"/>
            <a:ext cx="5638800" cy="835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spc="-357" dirty="0">
                <a:solidFill>
                  <a:srgbClr val="FF0000"/>
                </a:solidFill>
                <a:latin typeface="Intro"/>
                <a:ea typeface="Intro"/>
                <a:cs typeface="Intro"/>
                <a:sym typeface="Intro"/>
              </a:rPr>
              <a:t>software requirements</a:t>
            </a:r>
            <a:endParaRPr lang="en-IN" sz="3600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6D669B-3799-3848-47C5-5DC25FDCFEE2}"/>
              </a:ext>
            </a:extLst>
          </p:cNvPr>
          <p:cNvSpPr txBox="1"/>
          <p:nvPr/>
        </p:nvSpPr>
        <p:spPr>
          <a:xfrm>
            <a:off x="1600200" y="3289212"/>
            <a:ext cx="112776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600" dirty="0">
                <a:solidFill>
                  <a:schemeClr val="bg1"/>
                </a:solidFill>
                <a:latin typeface="TT Norms Bold" panose="020B0604020202020204" charset="0"/>
              </a:rPr>
              <a:t> </a:t>
            </a:r>
            <a:r>
              <a:rPr lang="en-IN" sz="3200" dirty="0">
                <a:solidFill>
                  <a:schemeClr val="bg1"/>
                </a:solidFill>
                <a:latin typeface="TT Norms Bold" panose="020B0604020202020204" charset="0"/>
              </a:rPr>
              <a:t>Operating System	 			: Windows 11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chemeClr val="bg1"/>
                </a:solidFill>
                <a:latin typeface="TT Norms Bold" panose="020B0604020202020204" charset="0"/>
              </a:rPr>
              <a:t> Programming Language 			: Python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chemeClr val="bg1"/>
                </a:solidFill>
                <a:latin typeface="TT Norms Bold" panose="020B0604020202020204" charset="0"/>
              </a:rPr>
              <a:t> Development Environment 		: VS Code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chemeClr val="bg1"/>
                </a:solidFill>
                <a:latin typeface="TT Norms Bold" panose="020B0604020202020204" charset="0"/>
              </a:rPr>
              <a:t> Libraries 						</a:t>
            </a:r>
            <a:r>
              <a:rPr lang="en-IN" sz="3200">
                <a:solidFill>
                  <a:schemeClr val="bg1"/>
                </a:solidFill>
                <a:latin typeface="TT Norms Bold" panose="020B0604020202020204" charset="0"/>
              </a:rPr>
              <a:t>: Flask</a:t>
            </a:r>
            <a:endParaRPr lang="en-IN" sz="3200" dirty="0">
              <a:solidFill>
                <a:schemeClr val="bg1"/>
              </a:solidFill>
              <a:latin typeface="TT Norms Bold" panose="020B060402020202020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20E83D-4F4A-9590-4051-649687FA76B7}"/>
              </a:ext>
            </a:extLst>
          </p:cNvPr>
          <p:cNvSpPr txBox="1"/>
          <p:nvPr/>
        </p:nvSpPr>
        <p:spPr>
          <a:xfrm>
            <a:off x="1600200" y="5660618"/>
            <a:ext cx="6019800" cy="835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spc="-357" dirty="0">
                <a:solidFill>
                  <a:srgbClr val="FF0000"/>
                </a:solidFill>
                <a:latin typeface="Intro"/>
                <a:ea typeface="Intro"/>
                <a:cs typeface="Intro"/>
                <a:sym typeface="Intro"/>
              </a:rPr>
              <a:t>hardware requirements</a:t>
            </a:r>
            <a:endParaRPr lang="en-IN" sz="3600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470451-355E-4A0B-6B4C-59BD4A346729}"/>
              </a:ext>
            </a:extLst>
          </p:cNvPr>
          <p:cNvSpPr txBox="1"/>
          <p:nvPr/>
        </p:nvSpPr>
        <p:spPr>
          <a:xfrm>
            <a:off x="1573078" y="6743700"/>
            <a:ext cx="762129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chemeClr val="bg1"/>
                </a:solidFill>
                <a:latin typeface="TT Norms Bold" panose="020B0604020202020204" charset="0"/>
              </a:rPr>
              <a:t>Processor 		: </a:t>
            </a:r>
            <a:r>
              <a:rPr lang="en-IN" sz="3200" dirty="0" err="1">
                <a:solidFill>
                  <a:schemeClr val="bg1"/>
                </a:solidFill>
                <a:latin typeface="TT Norms Bold" panose="020B0604020202020204" charset="0"/>
              </a:rPr>
              <a:t>Ryzen</a:t>
            </a:r>
            <a:r>
              <a:rPr lang="en-IN" sz="3200" dirty="0">
                <a:solidFill>
                  <a:schemeClr val="bg1"/>
                </a:solidFill>
                <a:latin typeface="TT Norms Bold" panose="020B0604020202020204" charset="0"/>
              </a:rPr>
              <a:t> 7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chemeClr val="bg1"/>
                </a:solidFill>
                <a:latin typeface="TT Norms Bold" panose="020B0604020202020204" charset="0"/>
              </a:rPr>
              <a:t>RMA 			: 8 GB 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chemeClr val="bg1"/>
                </a:solidFill>
                <a:latin typeface="TT Norms Bold" panose="020B0604020202020204" charset="0"/>
              </a:rPr>
              <a:t>Hard Disk 		: 512 GB SSD</a:t>
            </a:r>
          </a:p>
        </p:txBody>
      </p:sp>
    </p:spTree>
    <p:extLst>
      <p:ext uri="{BB962C8B-B14F-4D97-AF65-F5344CB8AC3E}">
        <p14:creationId xmlns:p14="http://schemas.microsoft.com/office/powerpoint/2010/main" val="3339576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950D811-25B3-105F-14D2-0A1683EE3D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Freeform 4">
            <a:extLst>
              <a:ext uri="{FF2B5EF4-FFF2-40B4-BE49-F238E27FC236}">
                <a16:creationId xmlns:a16="http://schemas.microsoft.com/office/drawing/2014/main" id="{6E9821ED-9C0F-D557-238C-42F59FEE224C}"/>
              </a:ext>
            </a:extLst>
          </p:cNvPr>
          <p:cNvSpPr/>
          <p:nvPr/>
        </p:nvSpPr>
        <p:spPr>
          <a:xfrm>
            <a:off x="598071" y="9105900"/>
            <a:ext cx="3375858" cy="644482"/>
          </a:xfrm>
          <a:custGeom>
            <a:avLst/>
            <a:gdLst/>
            <a:ahLst/>
            <a:cxnLst/>
            <a:rect l="l" t="t" r="r" b="b"/>
            <a:pathLst>
              <a:path w="3375858" h="644482">
                <a:moveTo>
                  <a:pt x="0" y="0"/>
                </a:moveTo>
                <a:lnTo>
                  <a:pt x="3375858" y="0"/>
                </a:lnTo>
                <a:lnTo>
                  <a:pt x="3375858" y="644482"/>
                </a:lnTo>
                <a:lnTo>
                  <a:pt x="0" y="6444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7E0DB77-451A-F4A2-FE39-2F7CF79755D3}"/>
              </a:ext>
            </a:extLst>
          </p:cNvPr>
          <p:cNvSpPr/>
          <p:nvPr/>
        </p:nvSpPr>
        <p:spPr>
          <a:xfrm>
            <a:off x="14401800" y="588941"/>
            <a:ext cx="3375858" cy="644482"/>
          </a:xfrm>
          <a:custGeom>
            <a:avLst/>
            <a:gdLst/>
            <a:ahLst/>
            <a:cxnLst/>
            <a:rect l="l" t="t" r="r" b="b"/>
            <a:pathLst>
              <a:path w="3375858" h="644482">
                <a:moveTo>
                  <a:pt x="0" y="0"/>
                </a:moveTo>
                <a:lnTo>
                  <a:pt x="3375858" y="0"/>
                </a:lnTo>
                <a:lnTo>
                  <a:pt x="3375858" y="644482"/>
                </a:lnTo>
                <a:lnTo>
                  <a:pt x="0" y="6444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4D1DDB-7A3A-E2C2-7B2C-C2C99049B8AF}"/>
              </a:ext>
            </a:extLst>
          </p:cNvPr>
          <p:cNvSpPr txBox="1"/>
          <p:nvPr/>
        </p:nvSpPr>
        <p:spPr>
          <a:xfrm>
            <a:off x="1948234" y="1866900"/>
            <a:ext cx="10896600" cy="1322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6000" spc="-357" dirty="0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Functional Requirements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862FBDB-3836-0BC5-C1D8-CC25E308E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3353338"/>
            <a:ext cx="10221068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T Norms Bold" panose="020B0604020202020204" charset="0"/>
              </a:rPr>
              <a:t>User can upload and download files.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T Norms Bold" panose="020B0604020202020204" charset="0"/>
              </a:rPr>
              <a:t>User can register and log in securely.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T Norms Bold" panose="020B0604020202020204" charset="0"/>
              </a:rPr>
              <a:t>System will encrypt files using AES before storage.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T Norms Bold" panose="020B0604020202020204" charset="0"/>
              </a:rPr>
              <a:t>RSA encryption will secure the AES key.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T Norms Bold" panose="020B0604020202020204" charset="0"/>
              </a:rPr>
              <a:t>User can decrypt files after authentication.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T Norms Bold" panose="020B0604020202020204" charset="0"/>
              </a:rPr>
              <a:t>System ensures data integrity and access control</a:t>
            </a:r>
            <a:r>
              <a:rPr lang="en-US" altLang="en-US" sz="3200" dirty="0">
                <a:solidFill>
                  <a:schemeClr val="bg1"/>
                </a:solidFill>
                <a:latin typeface="TT Norms Bold" panose="020B0604020202020204" charset="0"/>
              </a:rPr>
              <a:t>.</a:t>
            </a:r>
            <a:endParaRPr kumimoji="0" lang="en-US" altLang="en-US" sz="32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T Norms Bold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 can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 user activities and file logs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10669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714E2EC-ACBA-7DBB-F98F-A13CD81A719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Freeform 4">
            <a:extLst>
              <a:ext uri="{FF2B5EF4-FFF2-40B4-BE49-F238E27FC236}">
                <a16:creationId xmlns:a16="http://schemas.microsoft.com/office/drawing/2014/main" id="{1907E53B-0E95-DAF6-BAF9-D9C839354D9B}"/>
              </a:ext>
            </a:extLst>
          </p:cNvPr>
          <p:cNvSpPr/>
          <p:nvPr/>
        </p:nvSpPr>
        <p:spPr>
          <a:xfrm>
            <a:off x="533400" y="9105900"/>
            <a:ext cx="3375858" cy="644482"/>
          </a:xfrm>
          <a:custGeom>
            <a:avLst/>
            <a:gdLst/>
            <a:ahLst/>
            <a:cxnLst/>
            <a:rect l="l" t="t" r="r" b="b"/>
            <a:pathLst>
              <a:path w="3375858" h="644482">
                <a:moveTo>
                  <a:pt x="0" y="0"/>
                </a:moveTo>
                <a:lnTo>
                  <a:pt x="3375858" y="0"/>
                </a:lnTo>
                <a:lnTo>
                  <a:pt x="3375858" y="644482"/>
                </a:lnTo>
                <a:lnTo>
                  <a:pt x="0" y="6444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E2B0BFE-FE3A-E1CB-4888-44482C84085A}"/>
              </a:ext>
            </a:extLst>
          </p:cNvPr>
          <p:cNvSpPr/>
          <p:nvPr/>
        </p:nvSpPr>
        <p:spPr>
          <a:xfrm>
            <a:off x="14478000" y="571500"/>
            <a:ext cx="3375858" cy="644482"/>
          </a:xfrm>
          <a:custGeom>
            <a:avLst/>
            <a:gdLst/>
            <a:ahLst/>
            <a:cxnLst/>
            <a:rect l="l" t="t" r="r" b="b"/>
            <a:pathLst>
              <a:path w="3375858" h="644482">
                <a:moveTo>
                  <a:pt x="0" y="0"/>
                </a:moveTo>
                <a:lnTo>
                  <a:pt x="3375858" y="0"/>
                </a:lnTo>
                <a:lnTo>
                  <a:pt x="3375858" y="644482"/>
                </a:lnTo>
                <a:lnTo>
                  <a:pt x="0" y="6444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C94BEE-9075-2E69-0A48-E894A2DDE2FF}"/>
              </a:ext>
            </a:extLst>
          </p:cNvPr>
          <p:cNvSpPr txBox="1"/>
          <p:nvPr/>
        </p:nvSpPr>
        <p:spPr>
          <a:xfrm>
            <a:off x="1669942" y="1360422"/>
            <a:ext cx="12801600" cy="1322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6000" spc="-357" dirty="0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Non Functional Requirements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74DEA5C-4F13-EDCF-A8DE-AFEBA75E9A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2933700"/>
            <a:ext cx="13731644" cy="5197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lvl="0" indent="-5715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rgbClr val="FF0000"/>
                </a:solidFill>
                <a:latin typeface="TT Norms Bold" panose="020B0604020202020204" charset="0"/>
              </a:rPr>
              <a:t>Security:</a:t>
            </a:r>
            <a:r>
              <a:rPr lang="en-IN" sz="3200" dirty="0">
                <a:solidFill>
                  <a:schemeClr val="bg1"/>
                </a:solidFill>
                <a:latin typeface="TT Norms Bold" panose="020B0604020202020204" charset="0"/>
              </a:rPr>
              <a:t>	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T Norms Bold" panose="020B0604020202020204" charset="0"/>
              </a:rPr>
              <a:t>Protect user </a:t>
            </a:r>
            <a:r>
              <a:rPr lang="en-US" altLang="en-US" sz="3200" dirty="0">
                <a:solidFill>
                  <a:schemeClr val="bg1"/>
                </a:solidFill>
                <a:latin typeface="TT Norms Bold" panose="020B0604020202020204" charset="0"/>
              </a:rPr>
              <a:t>data using strong encryption methods.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T Norms Bold" panose="020B0604020202020204" charset="0"/>
            </a:endParaRPr>
          </a:p>
          <a:p>
            <a:pPr marL="571500" lvl="0" indent="-5715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rgbClr val="FF0000"/>
                </a:solidFill>
                <a:latin typeface="TT Norms Bold" panose="020B0604020202020204" charset="0"/>
              </a:rPr>
              <a:t>Performance:</a:t>
            </a:r>
            <a:r>
              <a:rPr lang="en-IN" sz="3200" dirty="0">
                <a:solidFill>
                  <a:schemeClr val="bg1"/>
                </a:solidFill>
                <a:latin typeface="TT Norms Bold" panose="020B0604020202020204" charset="0"/>
              </a:rPr>
              <a:t>	</a:t>
            </a:r>
            <a:r>
              <a:rPr lang="en-US" altLang="en-US" sz="3200" dirty="0">
                <a:solidFill>
                  <a:schemeClr val="bg1"/>
                </a:solidFill>
                <a:latin typeface="TT Norms Bold" panose="020B0604020202020204" charset="0"/>
              </a:rPr>
              <a:t>Ensure fast encryption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T Norms Bold" panose="020B0604020202020204" charset="0"/>
              </a:rPr>
              <a:t>, decryption, and file transfer.</a:t>
            </a:r>
          </a:p>
          <a:p>
            <a:pPr marL="571500" indent="-5715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rgbClr val="FF0000"/>
                </a:solidFill>
                <a:latin typeface="TT Norms Bold" panose="020B0604020202020204" charset="0"/>
              </a:rPr>
              <a:t>Usability:</a:t>
            </a:r>
            <a:r>
              <a:rPr lang="en-IN" sz="3200" dirty="0">
                <a:solidFill>
                  <a:schemeClr val="bg1"/>
                </a:solidFill>
                <a:latin typeface="TT Norms Bold" panose="020B0604020202020204" charset="0"/>
              </a:rPr>
              <a:t>	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T Norms Bold" panose="020B0604020202020204" charset="0"/>
              </a:rPr>
              <a:t>Provide a simple and </a:t>
            </a:r>
            <a:r>
              <a:rPr lang="en-US" altLang="en-US" sz="3200" dirty="0">
                <a:solidFill>
                  <a:schemeClr val="bg1"/>
                </a:solidFill>
                <a:latin typeface="TT Norms Bold" panose="020B0604020202020204" charset="0"/>
              </a:rPr>
              <a:t>user-friendly interface.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T Norms Bold" panose="020B0604020202020204" charset="0"/>
              </a:rPr>
              <a:t> </a:t>
            </a:r>
          </a:p>
          <a:p>
            <a:pPr marL="571500" lvl="0" indent="-5715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rgbClr val="FF0000"/>
                </a:solidFill>
                <a:latin typeface="TT Norms Bold" panose="020B0604020202020204" charset="0"/>
              </a:rPr>
              <a:t>Reliability: 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T Norms Bold" panose="020B0604020202020204" charset="0"/>
              </a:rPr>
              <a:t>System should work smoothly without data loss.</a:t>
            </a:r>
          </a:p>
          <a:p>
            <a:pPr marL="571500" lvl="0" indent="-5715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rgbClr val="FF0000"/>
                </a:solidFill>
                <a:latin typeface="TT Norms Bold" panose="020B0604020202020204" charset="0"/>
              </a:rPr>
              <a:t>Scalability: 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T Norms Bold" panose="020B0604020202020204" charset="0"/>
              </a:rPr>
              <a:t>Handle multiple users and large files efficiently.</a:t>
            </a:r>
          </a:p>
          <a:p>
            <a:pPr marL="571500" lvl="0" indent="-5715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rgbClr val="FF0000"/>
                </a:solidFill>
                <a:latin typeface="TT Norms Bold" panose="020B0604020202020204" charset="0"/>
              </a:rPr>
              <a:t>Availability:</a:t>
            </a:r>
            <a:r>
              <a:rPr lang="en-IN" sz="3200" dirty="0">
                <a:solidFill>
                  <a:schemeClr val="bg1"/>
                </a:solidFill>
                <a:latin typeface="TT Norms Bold" panose="020B0604020202020204" charset="0"/>
              </a:rPr>
              <a:t> 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T Norms Bold" panose="020B0604020202020204" charset="0"/>
              </a:rPr>
              <a:t>Ensure continuous access to stored files.</a:t>
            </a:r>
          </a:p>
          <a:p>
            <a:pPr marL="571500" lvl="0" indent="-5715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rgbClr val="FF0000"/>
                </a:solidFill>
                <a:latin typeface="TT Norms Bold" panose="020B0604020202020204" charset="0"/>
              </a:rPr>
              <a:t>Maintainability:</a:t>
            </a:r>
            <a:r>
              <a:rPr lang="en-IN" sz="3200" dirty="0">
                <a:solidFill>
                  <a:schemeClr val="bg1"/>
                </a:solidFill>
                <a:latin typeface="TT Norms Bold" panose="020B0604020202020204" charset="0"/>
              </a:rPr>
              <a:t> 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T Norms Bold" panose="020B0604020202020204" charset="0"/>
              </a:rPr>
              <a:t>Easy to update and improve the system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641256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E8575F0-BB1B-C906-93B5-3B2CA1B7432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Freeform 4">
            <a:extLst>
              <a:ext uri="{FF2B5EF4-FFF2-40B4-BE49-F238E27FC236}">
                <a16:creationId xmlns:a16="http://schemas.microsoft.com/office/drawing/2014/main" id="{14FBFF62-E4A1-C6A4-F9D9-59979243A37E}"/>
              </a:ext>
            </a:extLst>
          </p:cNvPr>
          <p:cNvSpPr/>
          <p:nvPr/>
        </p:nvSpPr>
        <p:spPr>
          <a:xfrm>
            <a:off x="533400" y="9105900"/>
            <a:ext cx="3375858" cy="644482"/>
          </a:xfrm>
          <a:custGeom>
            <a:avLst/>
            <a:gdLst/>
            <a:ahLst/>
            <a:cxnLst/>
            <a:rect l="l" t="t" r="r" b="b"/>
            <a:pathLst>
              <a:path w="3375858" h="644482">
                <a:moveTo>
                  <a:pt x="0" y="0"/>
                </a:moveTo>
                <a:lnTo>
                  <a:pt x="3375858" y="0"/>
                </a:lnTo>
                <a:lnTo>
                  <a:pt x="3375858" y="644482"/>
                </a:lnTo>
                <a:lnTo>
                  <a:pt x="0" y="6444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FBD0DBD-E007-66CD-F84B-32531A2C9947}"/>
              </a:ext>
            </a:extLst>
          </p:cNvPr>
          <p:cNvSpPr/>
          <p:nvPr/>
        </p:nvSpPr>
        <p:spPr>
          <a:xfrm>
            <a:off x="14478000" y="647700"/>
            <a:ext cx="3375858" cy="644482"/>
          </a:xfrm>
          <a:custGeom>
            <a:avLst/>
            <a:gdLst/>
            <a:ahLst/>
            <a:cxnLst/>
            <a:rect l="l" t="t" r="r" b="b"/>
            <a:pathLst>
              <a:path w="3375858" h="644482">
                <a:moveTo>
                  <a:pt x="0" y="0"/>
                </a:moveTo>
                <a:lnTo>
                  <a:pt x="3375858" y="0"/>
                </a:lnTo>
                <a:lnTo>
                  <a:pt x="3375858" y="644482"/>
                </a:lnTo>
                <a:lnTo>
                  <a:pt x="0" y="6444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029616-8AE6-7E3A-5F47-CE57ABAF24EF}"/>
              </a:ext>
            </a:extLst>
          </p:cNvPr>
          <p:cNvSpPr txBox="1"/>
          <p:nvPr/>
        </p:nvSpPr>
        <p:spPr>
          <a:xfrm>
            <a:off x="1371600" y="1275559"/>
            <a:ext cx="13868400" cy="1322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6000" spc="-357" dirty="0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Algorithms and technology used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2F469E-54B1-6A58-0EBE-A6FF6B1389A7}"/>
              </a:ext>
            </a:extLst>
          </p:cNvPr>
          <p:cNvSpPr txBox="1"/>
          <p:nvPr/>
        </p:nvSpPr>
        <p:spPr>
          <a:xfrm>
            <a:off x="1374183" y="3903168"/>
            <a:ext cx="131064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solidFill>
                  <a:srgbClr val="FF0000"/>
                </a:solidFill>
                <a:latin typeface="TT Norms Bold" panose="020B0604020202020204" charset="0"/>
              </a:rPr>
              <a:t>Advanced Encryption Standard (AES):</a:t>
            </a:r>
          </a:p>
          <a:p>
            <a:pPr lvl="1"/>
            <a:r>
              <a:rPr lang="en-IN" sz="2800" dirty="0">
                <a:solidFill>
                  <a:schemeClr val="bg1"/>
                </a:solidFill>
                <a:latin typeface="TT Norms Bold" panose="020B0604020202020204" charset="0"/>
              </a:rPr>
              <a:t>Used for fast and secure file encryption/decryption.</a:t>
            </a:r>
          </a:p>
          <a:p>
            <a:pPr lvl="1"/>
            <a:r>
              <a:rPr lang="en-IN" sz="2800" dirty="0">
                <a:solidFill>
                  <a:schemeClr val="bg1"/>
                </a:solidFill>
                <a:latin typeface="TT Norms Bold" panose="020B0604020202020204" charset="0"/>
              </a:rPr>
              <a:t>Ensures data confidentiality with symmetric key encryption.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solidFill>
                  <a:srgbClr val="FF0000"/>
                </a:solidFill>
                <a:latin typeface="TT Norms Bold" panose="020B0604020202020204" charset="0"/>
              </a:rPr>
              <a:t>Rivest–Shamir–Adleman(RES):</a:t>
            </a:r>
          </a:p>
          <a:p>
            <a:pPr lvl="1"/>
            <a:r>
              <a:rPr lang="en-IN" sz="2800" dirty="0">
                <a:solidFill>
                  <a:schemeClr val="bg1"/>
                </a:solidFill>
                <a:latin typeface="TT Norms Bold" panose="020B0604020202020204" charset="0"/>
              </a:rPr>
              <a:t>Used to encrypt and protect the AES key.</a:t>
            </a:r>
          </a:p>
          <a:p>
            <a:pPr lvl="1"/>
            <a:r>
              <a:rPr lang="en-IN" sz="2800" dirty="0">
                <a:solidFill>
                  <a:schemeClr val="bg1"/>
                </a:solidFill>
                <a:latin typeface="TT Norms Bold" panose="020B0604020202020204" charset="0"/>
              </a:rPr>
              <a:t>Provides secure key exchange using asymmetric encryption.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solidFill>
                  <a:srgbClr val="FF0000"/>
                </a:solidFill>
                <a:latin typeface="TT Norms Bold" panose="020B0604020202020204" charset="0"/>
              </a:rPr>
              <a:t>Hybrid Approach:</a:t>
            </a:r>
          </a:p>
          <a:p>
            <a:pPr lvl="1"/>
            <a:r>
              <a:rPr lang="en-IN" sz="2800" dirty="0">
                <a:solidFill>
                  <a:schemeClr val="bg1"/>
                </a:solidFill>
                <a:latin typeface="TT Norms Bold" panose="020B0604020202020204" charset="0"/>
              </a:rPr>
              <a:t>Combines AES and RSA to achieve both speed and high security.</a:t>
            </a:r>
          </a:p>
          <a:p>
            <a:pPr lvl="1"/>
            <a:r>
              <a:rPr lang="en-IN" sz="2800" dirty="0">
                <a:solidFill>
                  <a:schemeClr val="bg1"/>
                </a:solidFill>
                <a:latin typeface="TT Norms Bold" panose="020B0604020202020204" charset="0"/>
              </a:rPr>
              <a:t>AES encrypts data → RSA encrypts AES key → Secure storage.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5A56F0-B825-76B5-8BCA-B74F9B7D2077}"/>
              </a:ext>
            </a:extLst>
          </p:cNvPr>
          <p:cNvSpPr txBox="1"/>
          <p:nvPr/>
        </p:nvSpPr>
        <p:spPr>
          <a:xfrm>
            <a:off x="1371600" y="2683254"/>
            <a:ext cx="4343400" cy="918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spc="-357" dirty="0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Algorithms :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2322622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FDC6E75-4148-9858-0910-CFBBC8E76CA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Freeform 4">
            <a:extLst>
              <a:ext uri="{FF2B5EF4-FFF2-40B4-BE49-F238E27FC236}">
                <a16:creationId xmlns:a16="http://schemas.microsoft.com/office/drawing/2014/main" id="{64D8C8ED-F0C1-26D9-E1EB-D7A1593C7D27}"/>
              </a:ext>
            </a:extLst>
          </p:cNvPr>
          <p:cNvSpPr/>
          <p:nvPr/>
        </p:nvSpPr>
        <p:spPr>
          <a:xfrm>
            <a:off x="14325600" y="571500"/>
            <a:ext cx="3375858" cy="644482"/>
          </a:xfrm>
          <a:custGeom>
            <a:avLst/>
            <a:gdLst/>
            <a:ahLst/>
            <a:cxnLst/>
            <a:rect l="l" t="t" r="r" b="b"/>
            <a:pathLst>
              <a:path w="3375858" h="644482">
                <a:moveTo>
                  <a:pt x="0" y="0"/>
                </a:moveTo>
                <a:lnTo>
                  <a:pt x="3375858" y="0"/>
                </a:lnTo>
                <a:lnTo>
                  <a:pt x="3375858" y="644482"/>
                </a:lnTo>
                <a:lnTo>
                  <a:pt x="0" y="6444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8CB5F92E-7A8E-6342-24AD-56107A95C357}"/>
              </a:ext>
            </a:extLst>
          </p:cNvPr>
          <p:cNvSpPr/>
          <p:nvPr/>
        </p:nvSpPr>
        <p:spPr>
          <a:xfrm>
            <a:off x="609600" y="9182100"/>
            <a:ext cx="3375858" cy="644482"/>
          </a:xfrm>
          <a:custGeom>
            <a:avLst/>
            <a:gdLst/>
            <a:ahLst/>
            <a:cxnLst/>
            <a:rect l="l" t="t" r="r" b="b"/>
            <a:pathLst>
              <a:path w="3375858" h="644482">
                <a:moveTo>
                  <a:pt x="0" y="0"/>
                </a:moveTo>
                <a:lnTo>
                  <a:pt x="3375858" y="0"/>
                </a:lnTo>
                <a:lnTo>
                  <a:pt x="3375858" y="644482"/>
                </a:lnTo>
                <a:lnTo>
                  <a:pt x="0" y="6444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B56508-3143-5597-7306-07B859CDAF0D}"/>
              </a:ext>
            </a:extLst>
          </p:cNvPr>
          <p:cNvSpPr txBox="1"/>
          <p:nvPr/>
        </p:nvSpPr>
        <p:spPr>
          <a:xfrm>
            <a:off x="1676400" y="1225228"/>
            <a:ext cx="5486400" cy="1322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6000" spc="-357" dirty="0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technolog</a:t>
            </a:r>
            <a:r>
              <a:rPr lang="en-US" sz="5400" spc="-357" dirty="0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y</a:t>
            </a:r>
            <a:endParaRPr lang="en-IN" sz="5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DC1F83-FB10-2560-950A-BEB2E59B0F78}"/>
              </a:ext>
            </a:extLst>
          </p:cNvPr>
          <p:cNvSpPr txBox="1"/>
          <p:nvPr/>
        </p:nvSpPr>
        <p:spPr>
          <a:xfrm>
            <a:off x="1676400" y="2933700"/>
            <a:ext cx="14935200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rgbClr val="FF0000"/>
                </a:solidFill>
                <a:latin typeface="TT Norms Bold" panose="020B0604020202020204" charset="0"/>
              </a:rPr>
              <a:t>High-Level Language </a:t>
            </a:r>
            <a:r>
              <a:rPr lang="en-US" sz="3200" dirty="0">
                <a:solidFill>
                  <a:srgbClr val="FF0000"/>
                </a:solidFill>
                <a:latin typeface="TT Norms Bold" panose="020B0604020202020204" charset="0"/>
              </a:rPr>
              <a:t>:</a:t>
            </a:r>
            <a:r>
              <a:rPr lang="en-US" sz="3200" dirty="0">
                <a:solidFill>
                  <a:schemeClr val="bg1"/>
                </a:solidFill>
                <a:latin typeface="TT Norms Bold" panose="020B0604020202020204" charset="0"/>
              </a:rPr>
              <a:t> Python is easy to read, write, and understand.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rgbClr val="FF0000"/>
                </a:solidFill>
                <a:latin typeface="TT Norms Bold" panose="020B0604020202020204" charset="0"/>
              </a:rPr>
              <a:t>Interpreted Language </a:t>
            </a:r>
            <a:r>
              <a:rPr lang="en-US" sz="3200" dirty="0">
                <a:solidFill>
                  <a:srgbClr val="FF0000"/>
                </a:solidFill>
                <a:latin typeface="TT Norms Bold" panose="020B0604020202020204" charset="0"/>
              </a:rPr>
              <a:t>:</a:t>
            </a:r>
            <a:r>
              <a:rPr lang="en-US" sz="3200" dirty="0">
                <a:solidFill>
                  <a:schemeClr val="bg1"/>
                </a:solidFill>
                <a:latin typeface="TT Norms Bold" panose="020B0604020202020204" charset="0"/>
              </a:rPr>
              <a:t> Code runs line by line, making debugging simple.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FF0000"/>
                </a:solidFill>
                <a:latin typeface="TT Norms Bold" panose="020B0604020202020204" charset="0"/>
              </a:rPr>
              <a:t>Open Source :</a:t>
            </a:r>
            <a:r>
              <a:rPr lang="en-US" sz="3200" dirty="0">
                <a:solidFill>
                  <a:schemeClr val="bg1"/>
                </a:solidFill>
                <a:latin typeface="TT Norms Bold" panose="020B0604020202020204" charset="0"/>
              </a:rPr>
              <a:t> Free to use and supported by a large community.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rgbClr val="FF0000"/>
                </a:solidFill>
                <a:latin typeface="TT Norms Bold" panose="020B0604020202020204" charset="0"/>
              </a:rPr>
              <a:t>Used in Many Fields </a:t>
            </a:r>
            <a:r>
              <a:rPr lang="en-US" sz="3200" dirty="0">
                <a:solidFill>
                  <a:srgbClr val="FF0000"/>
                </a:solidFill>
                <a:latin typeface="TT Norms Bold" panose="020B0604020202020204" charset="0"/>
              </a:rPr>
              <a:t>: </a:t>
            </a:r>
            <a:r>
              <a:rPr lang="en-US" sz="3200" dirty="0">
                <a:solidFill>
                  <a:schemeClr val="bg1"/>
                </a:solidFill>
                <a:latin typeface="TT Norms Bold" panose="020B0604020202020204" charset="0"/>
              </a:rPr>
              <a:t>Commonly used in web development, data science, machine learning, and automation.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rgbClr val="FF0000"/>
                </a:solidFill>
                <a:latin typeface="TT Norms Bold" panose="020B0604020202020204" charset="0"/>
              </a:rPr>
              <a:t>Used in Many Fields </a:t>
            </a:r>
            <a:r>
              <a:rPr lang="en-US" sz="3200" dirty="0">
                <a:solidFill>
                  <a:srgbClr val="FF0000"/>
                </a:solidFill>
                <a:latin typeface="TT Norms Bold" panose="020B0604020202020204" charset="0"/>
              </a:rPr>
              <a:t>:</a:t>
            </a:r>
            <a:r>
              <a:rPr lang="en-US" sz="3200" dirty="0">
                <a:solidFill>
                  <a:schemeClr val="bg1"/>
                </a:solidFill>
                <a:latin typeface="TT Norms Bold" panose="020B0604020202020204" charset="0"/>
              </a:rPr>
              <a:t> Commonly used in web development, data science, machine learning, and automation.</a:t>
            </a:r>
            <a:endParaRPr lang="en-IN" sz="3200" dirty="0">
              <a:solidFill>
                <a:schemeClr val="bg1"/>
              </a:solidFill>
              <a:latin typeface="TT Norms Bol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98854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B5C9B48-E8D9-AF6B-2EB5-75D2A3CA44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Freeform 4">
            <a:extLst>
              <a:ext uri="{FF2B5EF4-FFF2-40B4-BE49-F238E27FC236}">
                <a16:creationId xmlns:a16="http://schemas.microsoft.com/office/drawing/2014/main" id="{F1EC34FA-0446-4042-D245-EB4FBDD62C8C}"/>
              </a:ext>
            </a:extLst>
          </p:cNvPr>
          <p:cNvSpPr/>
          <p:nvPr/>
        </p:nvSpPr>
        <p:spPr>
          <a:xfrm>
            <a:off x="13956088" y="511742"/>
            <a:ext cx="3375858" cy="644482"/>
          </a:xfrm>
          <a:custGeom>
            <a:avLst/>
            <a:gdLst/>
            <a:ahLst/>
            <a:cxnLst/>
            <a:rect l="l" t="t" r="r" b="b"/>
            <a:pathLst>
              <a:path w="3375858" h="644482">
                <a:moveTo>
                  <a:pt x="0" y="0"/>
                </a:moveTo>
                <a:lnTo>
                  <a:pt x="3375858" y="0"/>
                </a:lnTo>
                <a:lnTo>
                  <a:pt x="3375858" y="644482"/>
                </a:lnTo>
                <a:lnTo>
                  <a:pt x="0" y="6444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C9E8A0B6-9A54-893D-0700-5C9A14FCA94F}"/>
              </a:ext>
            </a:extLst>
          </p:cNvPr>
          <p:cNvSpPr/>
          <p:nvPr/>
        </p:nvSpPr>
        <p:spPr>
          <a:xfrm>
            <a:off x="914400" y="8953500"/>
            <a:ext cx="3375858" cy="644482"/>
          </a:xfrm>
          <a:custGeom>
            <a:avLst/>
            <a:gdLst/>
            <a:ahLst/>
            <a:cxnLst/>
            <a:rect l="l" t="t" r="r" b="b"/>
            <a:pathLst>
              <a:path w="3375858" h="644482">
                <a:moveTo>
                  <a:pt x="0" y="0"/>
                </a:moveTo>
                <a:lnTo>
                  <a:pt x="3375858" y="0"/>
                </a:lnTo>
                <a:lnTo>
                  <a:pt x="3375858" y="644482"/>
                </a:lnTo>
                <a:lnTo>
                  <a:pt x="0" y="6444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CF296D-BFB7-3B52-556F-6BB0CBAB5C05}"/>
              </a:ext>
            </a:extLst>
          </p:cNvPr>
          <p:cNvSpPr txBox="1"/>
          <p:nvPr/>
        </p:nvSpPr>
        <p:spPr>
          <a:xfrm>
            <a:off x="6363113" y="845596"/>
            <a:ext cx="5684008" cy="1199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5400" spc="-357" dirty="0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System design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4D08CCB-00DD-D4D9-8631-16A228869572}"/>
              </a:ext>
            </a:extLst>
          </p:cNvPr>
          <p:cNvCxnSpPr/>
          <p:nvPr/>
        </p:nvCxnSpPr>
        <p:spPr>
          <a:xfrm>
            <a:off x="14554200" y="4000500"/>
            <a:ext cx="0" cy="1447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6CD4E73E-DC86-3873-BE3E-5F1A97D2CD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2522349"/>
            <a:ext cx="14173200" cy="5711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5333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7CDC8CC-C320-B0B9-BC9D-A69F3E60D9D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Freeform 4">
            <a:extLst>
              <a:ext uri="{FF2B5EF4-FFF2-40B4-BE49-F238E27FC236}">
                <a16:creationId xmlns:a16="http://schemas.microsoft.com/office/drawing/2014/main" id="{7455A20D-EFDB-BE09-8EF4-ECDFD08DA137}"/>
              </a:ext>
            </a:extLst>
          </p:cNvPr>
          <p:cNvSpPr/>
          <p:nvPr/>
        </p:nvSpPr>
        <p:spPr>
          <a:xfrm>
            <a:off x="762000" y="8801100"/>
            <a:ext cx="3375858" cy="644482"/>
          </a:xfrm>
          <a:custGeom>
            <a:avLst/>
            <a:gdLst/>
            <a:ahLst/>
            <a:cxnLst/>
            <a:rect l="l" t="t" r="r" b="b"/>
            <a:pathLst>
              <a:path w="3375858" h="644482">
                <a:moveTo>
                  <a:pt x="0" y="0"/>
                </a:moveTo>
                <a:lnTo>
                  <a:pt x="3375858" y="0"/>
                </a:lnTo>
                <a:lnTo>
                  <a:pt x="3375858" y="644482"/>
                </a:lnTo>
                <a:lnTo>
                  <a:pt x="0" y="6444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4D116DF3-9EF8-AB3F-7E36-1597D8BB7751}"/>
              </a:ext>
            </a:extLst>
          </p:cNvPr>
          <p:cNvSpPr/>
          <p:nvPr/>
        </p:nvSpPr>
        <p:spPr>
          <a:xfrm>
            <a:off x="14249400" y="571500"/>
            <a:ext cx="3375858" cy="644482"/>
          </a:xfrm>
          <a:custGeom>
            <a:avLst/>
            <a:gdLst/>
            <a:ahLst/>
            <a:cxnLst/>
            <a:rect l="l" t="t" r="r" b="b"/>
            <a:pathLst>
              <a:path w="3375858" h="644482">
                <a:moveTo>
                  <a:pt x="0" y="0"/>
                </a:moveTo>
                <a:lnTo>
                  <a:pt x="3375858" y="0"/>
                </a:lnTo>
                <a:lnTo>
                  <a:pt x="3375858" y="644482"/>
                </a:lnTo>
                <a:lnTo>
                  <a:pt x="0" y="6444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1BE5EE-CA19-8BC0-6BB2-2BD7F35ABB4B}"/>
              </a:ext>
            </a:extLst>
          </p:cNvPr>
          <p:cNvSpPr txBox="1"/>
          <p:nvPr/>
        </p:nvSpPr>
        <p:spPr>
          <a:xfrm>
            <a:off x="4465675" y="916354"/>
            <a:ext cx="9356650" cy="1199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5400" spc="-357" dirty="0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Data flow diagram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D808E8-8D73-8622-BD7F-F6F60CB409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2495832"/>
            <a:ext cx="11734800" cy="5682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2443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ED53E71E-8289-997D-4B10-4AAB7C74FF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7729907" h="17729907">
                <a:moveTo>
                  <a:pt x="0" y="0"/>
                </a:moveTo>
                <a:lnTo>
                  <a:pt x="17729907" y="0"/>
                </a:lnTo>
                <a:lnTo>
                  <a:pt x="17729907" y="17729908"/>
                </a:lnTo>
                <a:lnTo>
                  <a:pt x="0" y="177299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algn="ctr">
              <a:lnSpc>
                <a:spcPts val="7967"/>
              </a:lnSpc>
            </a:pPr>
            <a:endParaRPr lang="en-US" sz="9600" spc="-357" dirty="0">
              <a:solidFill>
                <a:srgbClr val="FFFFFF"/>
              </a:solidFill>
              <a:latin typeface="Intro"/>
              <a:ea typeface="Intro"/>
              <a:cs typeface="Intro"/>
              <a:sym typeface="Intro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028700" y="8936059"/>
            <a:ext cx="3375858" cy="644482"/>
          </a:xfrm>
          <a:custGeom>
            <a:avLst/>
            <a:gdLst/>
            <a:ahLst/>
            <a:cxnLst/>
            <a:rect l="l" t="t" r="r" b="b"/>
            <a:pathLst>
              <a:path w="3375858" h="644482">
                <a:moveTo>
                  <a:pt x="0" y="0"/>
                </a:moveTo>
                <a:lnTo>
                  <a:pt x="3375858" y="0"/>
                </a:lnTo>
                <a:lnTo>
                  <a:pt x="3375858" y="644482"/>
                </a:lnTo>
                <a:lnTo>
                  <a:pt x="0" y="6444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883442" y="706459"/>
            <a:ext cx="3375858" cy="644482"/>
          </a:xfrm>
          <a:custGeom>
            <a:avLst/>
            <a:gdLst/>
            <a:ahLst/>
            <a:cxnLst/>
            <a:rect l="l" t="t" r="r" b="b"/>
            <a:pathLst>
              <a:path w="3375858" h="644482">
                <a:moveTo>
                  <a:pt x="0" y="0"/>
                </a:moveTo>
                <a:lnTo>
                  <a:pt x="3375858" y="0"/>
                </a:lnTo>
                <a:lnTo>
                  <a:pt x="3375858" y="644482"/>
                </a:lnTo>
                <a:lnTo>
                  <a:pt x="0" y="6444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6C46B1-326D-BD63-3B84-B966EAAD0E43}"/>
              </a:ext>
            </a:extLst>
          </p:cNvPr>
          <p:cNvSpPr txBox="1"/>
          <p:nvPr/>
        </p:nvSpPr>
        <p:spPr>
          <a:xfrm>
            <a:off x="2971800" y="3467100"/>
            <a:ext cx="7010400" cy="1341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967"/>
              </a:lnSpc>
            </a:pPr>
            <a:r>
              <a:rPr lang="en-US" sz="15000" spc="-357" dirty="0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Thank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26CF1C-F65A-A4BB-5774-72C671BC2BBE}"/>
              </a:ext>
            </a:extLst>
          </p:cNvPr>
          <p:cNvSpPr txBox="1"/>
          <p:nvPr/>
        </p:nvSpPr>
        <p:spPr>
          <a:xfrm>
            <a:off x="8915400" y="5478380"/>
            <a:ext cx="4419600" cy="1341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967"/>
              </a:lnSpc>
            </a:pPr>
            <a:r>
              <a:rPr lang="en-US" sz="15000" spc="-357" dirty="0">
                <a:solidFill>
                  <a:srgbClr val="FFFFFF"/>
                </a:solidFill>
                <a:latin typeface="Intro"/>
                <a:ea typeface="Intro"/>
                <a:cs typeface="Intro"/>
                <a:sym typeface="Intro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866</TotalTime>
  <Words>773</Words>
  <Application>Microsoft Office PowerPoint</Application>
  <PresentationFormat>Custom</PresentationFormat>
  <Paragraphs>99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Intro</vt:lpstr>
      <vt:lpstr>Calibri</vt:lpstr>
      <vt:lpstr>Arial</vt:lpstr>
      <vt:lpstr>Arial Black</vt:lpstr>
      <vt:lpstr>Wingdings</vt:lpstr>
      <vt:lpstr>TT Norms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workout</dc:title>
  <dc:creator>ULLAS</dc:creator>
  <cp:lastModifiedBy>ULLAS G</cp:lastModifiedBy>
  <cp:revision>90</cp:revision>
  <dcterms:created xsi:type="dcterms:W3CDTF">2006-08-16T00:00:00Z</dcterms:created>
  <dcterms:modified xsi:type="dcterms:W3CDTF">2025-12-18T17:17:46Z</dcterms:modified>
  <dc:identifier>DAGj1uRr6-E</dc:identifier>
</cp:coreProperties>
</file>